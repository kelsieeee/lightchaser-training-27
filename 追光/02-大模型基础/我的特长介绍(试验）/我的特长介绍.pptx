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49640" y="1207008"/>
            <a:ext cx="3584448" cy="3584448"/>
          </a:xfrm>
          <a:prstGeom prst="ellipse">
            <a:avLst/>
          </a:prstGeom>
          <a:noFill/>
          <a:ln w="30480">
            <a:solidFill>
              <a:srgbClr val="DF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40112" y="932688"/>
            <a:ext cx="1298448" cy="1298448"/>
          </a:xfrm>
          <a:prstGeom prst="ellipse">
            <a:avLst/>
          </a:prstGeom>
          <a:noFill/>
          <a:ln w="12700">
            <a:solidFill>
              <a:srgbClr val="DC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1517904"/>
            <a:ext cx="137160" cy="137160"/>
          </a:xfrm>
          <a:prstGeom prst="ellipse">
            <a:avLst/>
          </a:prstGeom>
          <a:solidFill>
            <a:srgbClr val="1C6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85632" y="3950208"/>
            <a:ext cx="1170432" cy="1170432"/>
          </a:xfrm>
          <a:prstGeom prst="roundRect">
            <a:avLst>
              <a:gd name="adj" fmla="val 16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3950208"/>
            <a:ext cx="117043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</a:rPr>
              <a:t>特</a:t>
            </a:r>
          </a:p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微软雅黑"/>
                <a:ea typeface="微软雅黑"/>
              </a:rPr>
              <a:t>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18872" cy="118872"/>
          </a:xfrm>
          <a:prstGeom prst="rect">
            <a:avLst/>
          </a:prstGeom>
          <a:solidFill>
            <a:srgbClr val="1C6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645E"/>
                </a:solidFill>
                <a:latin typeface="微软雅黑"/>
                <a:ea typeface="微软雅黑"/>
              </a:rPr>
              <a:t>个人特长展示</a:t>
            </a:r>
            <a:r>
              <a:rPr sz="1050" b="1" i="0" spc="160">
                <a:solidFill>
                  <a:srgbClr val="1C645E"/>
                </a:solidFill>
                <a:latin typeface="Arial"/>
                <a:ea typeface="微软雅黑"/>
              </a:rPr>
              <a:t>　PERSONAL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39696"/>
            <a:ext cx="749807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 i="0">
                <a:solidFill>
                  <a:srgbClr val="23272F"/>
                </a:solidFill>
                <a:latin typeface="微软雅黑"/>
                <a:ea typeface="微软雅黑"/>
              </a:rPr>
              <a:t>我的特长介绍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10128"/>
            <a:ext cx="804672" cy="68580"/>
          </a:xfrm>
          <a:prstGeom prst="rect">
            <a:avLst/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84448"/>
            <a:ext cx="6949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70685E"/>
                </a:solidFill>
                <a:latin typeface="微软雅黑"/>
                <a:ea typeface="微软雅黑"/>
              </a:rPr>
              <a:t>三项拿得出手的特长，与背后长期的练习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760720"/>
            <a:ext cx="6583680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704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0685E"/>
                </a:solidFill>
                <a:latin typeface="微软雅黑"/>
                <a:ea typeface="微软雅黑"/>
              </a:rPr>
              <a:t>汇报人：XXX</a:t>
            </a:r>
            <a:r>
              <a:rPr sz="1200" b="0" i="0">
                <a:solidFill>
                  <a:srgbClr val="70685E"/>
                </a:solidFill>
                <a:latin typeface="微软雅黑"/>
                <a:ea typeface="微软雅黑"/>
              </a:rPr>
              <a:t>　｜　班级：XX 班</a:t>
            </a:r>
            <a:r>
              <a:rPr sz="1200" b="0" i="0">
                <a:solidFill>
                  <a:srgbClr val="70685E"/>
                </a:solidFill>
                <a:latin typeface="Arial"/>
                <a:ea typeface="微软雅黑"/>
              </a:rPr>
              <a:t>　｜　2026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852160"/>
            <a:ext cx="8229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70685E"/>
                </a:solidFill>
                <a:latin typeface="Arial"/>
                <a:ea typeface="微软雅黑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53212"/>
            <a:ext cx="109728" cy="109728"/>
          </a:xfrm>
          <a:prstGeom prst="rect">
            <a:avLst/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F553A"/>
                </a:solidFill>
                <a:latin typeface="Arial"/>
                <a:ea typeface="微软雅黑"/>
              </a:rPr>
              <a:t>02　</a:t>
            </a:r>
            <a:r>
              <a:rPr sz="1100" b="1" i="0">
                <a:solidFill>
                  <a:srgbClr val="1C645E"/>
                </a:solidFill>
                <a:latin typeface="微软雅黑"/>
                <a:ea typeface="微软雅黑"/>
              </a:rPr>
              <a:t>特长一览</a:t>
            </a:r>
            <a:r>
              <a:rPr sz="1000" b="1" i="0" spc="120">
                <a:solidFill>
                  <a:srgbClr val="1C645E"/>
                </a:solidFill>
                <a:latin typeface="Arial"/>
                <a:ea typeface="微软雅黑"/>
              </a:rPr>
              <a:t>　MY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3272F"/>
                </a:solidFill>
                <a:latin typeface="微软雅黑"/>
                <a:ea typeface="微软雅黑"/>
              </a:rPr>
              <a:t>三项特长，每项都有看得见的成果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17904"/>
            <a:ext cx="10545775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314090" cy="4160520"/>
          </a:xfrm>
          <a:prstGeom prst="roundRect">
            <a:avLst>
              <a:gd name="adj" fmla="val 3500"/>
            </a:avLst>
          </a:prstGeom>
          <a:solidFill>
            <a:srgbClr val="FDFBF7"/>
          </a:solidFill>
          <a:ln w="9525">
            <a:solidFill>
              <a:srgbClr val="DC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103120"/>
            <a:ext cx="457200" cy="68580"/>
          </a:xfrm>
          <a:prstGeom prst="rect">
            <a:avLst/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F553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852928"/>
            <a:ext cx="27654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3272F"/>
                </a:solidFill>
                <a:latin typeface="微软雅黑"/>
                <a:ea typeface="微软雅黑"/>
              </a:rPr>
              <a:t>公众表达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3856" y="3383280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383280"/>
            <a:ext cx="9326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2412A"/>
                </a:solidFill>
                <a:latin typeface="微软雅黑"/>
                <a:ea typeface="微软雅黑"/>
              </a:rPr>
              <a:t>表达力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3931920"/>
            <a:ext cx="2692298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4201668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4133087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校级演讲比赛一等奖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732020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4663440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主持校园活动 10 余场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262372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5193792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能把复杂的事情讲清楚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8802" y="1783080"/>
            <a:ext cx="3314090" cy="4160520"/>
          </a:xfrm>
          <a:prstGeom prst="roundRect">
            <a:avLst>
              <a:gd name="adj" fmla="val 3500"/>
            </a:avLst>
          </a:prstGeom>
          <a:solidFill>
            <a:srgbClr val="FDFBF7"/>
          </a:solidFill>
          <a:ln w="9525">
            <a:solidFill>
              <a:srgbClr val="DC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49698" y="2103120"/>
            <a:ext cx="457200" cy="68580"/>
          </a:xfrm>
          <a:prstGeom prst="rect">
            <a:avLst/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3122" y="2249424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F553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9698" y="2852928"/>
            <a:ext cx="27654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3272F"/>
                </a:solidFill>
                <a:latin typeface="微软雅黑"/>
                <a:ea typeface="微软雅黑"/>
              </a:rPr>
              <a:t>编程与逻辑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49698" y="3383280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9698" y="3383280"/>
            <a:ext cx="9326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2412A"/>
                </a:solidFill>
                <a:latin typeface="微软雅黑"/>
                <a:ea typeface="微软雅黑"/>
              </a:rPr>
              <a:t>逻辑力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9698" y="3931920"/>
            <a:ext cx="2692298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58842" y="4201668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0866" y="4133087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掌握 Python、C++ 两门语言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8842" y="4732020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0866" y="4663440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信息学竞赛获省级二等奖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8842" y="5262372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0866" y="5193792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独立完成 3 个实用小工具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54644" y="1783080"/>
            <a:ext cx="3314090" cy="4160520"/>
          </a:xfrm>
          <a:prstGeom prst="roundRect">
            <a:avLst>
              <a:gd name="adj" fmla="val 3500"/>
            </a:avLst>
          </a:prstGeom>
          <a:solidFill>
            <a:srgbClr val="FDFBF7"/>
          </a:solidFill>
          <a:ln w="9525">
            <a:solidFill>
              <a:srgbClr val="DCD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5540" y="2103120"/>
            <a:ext cx="457200" cy="68580"/>
          </a:xfrm>
          <a:prstGeom prst="rect">
            <a:avLst/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8964" y="2249424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DF553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5540" y="2852928"/>
            <a:ext cx="27654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3272F"/>
                </a:solidFill>
                <a:latin typeface="微软雅黑"/>
                <a:ea typeface="微软雅黑"/>
              </a:rPr>
              <a:t>硬笔书法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5540" y="3383280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5540" y="3383280"/>
            <a:ext cx="9326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2412A"/>
                </a:solidFill>
                <a:latin typeface="微软雅黑"/>
                <a:ea typeface="微软雅黑"/>
              </a:rPr>
              <a:t>专注力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5540" y="3931920"/>
            <a:ext cx="2692298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74684" y="4201668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6708" y="4133087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书法水平考级玖级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4684" y="4732020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6708" y="4663440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作品入选校园文化展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74684" y="5262372"/>
            <a:ext cx="82296" cy="82296"/>
          </a:xfrm>
          <a:prstGeom prst="roundRect">
            <a:avLst>
              <a:gd name="adj" fmla="val 25000"/>
            </a:avLst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6708" y="5193792"/>
            <a:ext cx="252770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3A3D44"/>
                </a:solidFill>
                <a:latin typeface="微软雅黑"/>
                <a:ea typeface="微软雅黑"/>
              </a:rPr>
              <a:t>坚持每日临帖 30 分钟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6236208"/>
            <a:ext cx="10545775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63276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0685E"/>
                </a:solidFill>
                <a:latin typeface="微软雅黑"/>
                <a:ea typeface="微软雅黑"/>
              </a:rPr>
              <a:t>我的特长介绍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472" y="6309360"/>
            <a:ext cx="731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70685E"/>
                </a:solidFill>
                <a:latin typeface="Arial"/>
                <a:ea typeface="微软雅黑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53212"/>
            <a:ext cx="109728" cy="109728"/>
          </a:xfrm>
          <a:prstGeom prst="rect">
            <a:avLst/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F553A"/>
                </a:solidFill>
                <a:latin typeface="Arial"/>
                <a:ea typeface="微软雅黑"/>
              </a:rPr>
              <a:t>03　</a:t>
            </a:r>
            <a:r>
              <a:rPr sz="1100" b="1" i="0">
                <a:solidFill>
                  <a:srgbClr val="1C645E"/>
                </a:solidFill>
                <a:latin typeface="微软雅黑"/>
                <a:ea typeface="微软雅黑"/>
              </a:rPr>
              <a:t>持续精进</a:t>
            </a:r>
            <a:r>
              <a:rPr sz="1000" b="1" i="0" spc="120">
                <a:solidFill>
                  <a:srgbClr val="1C645E"/>
                </a:solidFill>
                <a:latin typeface="Arial"/>
                <a:ea typeface="微软雅黑"/>
              </a:rPr>
              <a:t>　KEEP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3272F"/>
                </a:solidFill>
                <a:latin typeface="微软雅黑"/>
                <a:ea typeface="微软雅黑"/>
              </a:rPr>
              <a:t>每天 30 分钟，让特长持续生长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17904"/>
            <a:ext cx="10545775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545775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84248"/>
            <a:ext cx="566928" cy="566928"/>
          </a:xfrm>
          <a:prstGeom prst="ellipse">
            <a:avLst/>
          </a:prstGeom>
          <a:noFill/>
          <a:ln w="17780">
            <a:solidFill>
              <a:srgbClr val="DF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F553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938528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3272F"/>
                </a:solidFill>
                <a:latin typeface="微软雅黑"/>
                <a:ea typeface="微软雅黑"/>
              </a:rPr>
              <a:t>刻意练习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938528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0685E"/>
                </a:solidFill>
                <a:latin typeface="微软雅黑"/>
                <a:ea typeface="微软雅黑"/>
              </a:rPr>
              <a:t>拆解薄弱环节，每周只盯住一个点反复打磨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98064"/>
            <a:ext cx="10545775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953512"/>
            <a:ext cx="566928" cy="566928"/>
          </a:xfrm>
          <a:prstGeom prst="ellipse">
            <a:avLst/>
          </a:prstGeom>
          <a:noFill/>
          <a:ln w="17780">
            <a:solidFill>
              <a:srgbClr val="DF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F553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907792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3272F"/>
                </a:solidFill>
                <a:latin typeface="微软雅黑"/>
                <a:ea typeface="微软雅黑"/>
              </a:rPr>
              <a:t>输出作品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907792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0685E"/>
                </a:solidFill>
                <a:latin typeface="微软雅黑"/>
                <a:ea typeface="微软雅黑"/>
              </a:rPr>
              <a:t>用比赛、展览和项目检验自己的真实水平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67328"/>
            <a:ext cx="10545775" cy="12801"/>
          </a:xfrm>
          <a:prstGeom prst="rect">
            <a:avLst/>
          </a:prstGeom>
          <a:solidFill>
            <a:srgbClr val="DCD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922776"/>
            <a:ext cx="566928" cy="566928"/>
          </a:xfrm>
          <a:prstGeom prst="ellipse">
            <a:avLst/>
          </a:prstGeom>
          <a:noFill/>
          <a:ln w="17780">
            <a:solidFill>
              <a:srgbClr val="DF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2277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F553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877056"/>
            <a:ext cx="1828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3272F"/>
                </a:solidFill>
                <a:latin typeface="微软雅黑"/>
                <a:ea typeface="微软雅黑"/>
              </a:rPr>
              <a:t>主动求反馈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877056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0685E"/>
                </a:solidFill>
                <a:latin typeface="微软雅黑"/>
                <a:ea typeface="微软雅黑"/>
              </a:rPr>
              <a:t>请老师和同伴挑错，把批评当作改进的路标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DF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8523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61081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80">
                <a:solidFill>
                  <a:srgbClr val="FFFFFF"/>
                </a:solidFill>
                <a:latin typeface="Arial"/>
                <a:ea typeface="微软雅黑"/>
              </a:rPr>
              <a:t>THANK YOU FOR WATCHING</a:t>
            </a:r>
            <a:r>
              <a:rPr sz="1150" b="0" i="0">
                <a:solidFill>
                  <a:srgbClr val="FFFFFF"/>
                </a:solidFill>
                <a:latin typeface="微软雅黑"/>
                <a:ea typeface="微软雅黑"/>
              </a:rPr>
              <a:t>　·　期待与你交流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41908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汇报人：XXX　|　2026</a:t>
            </a:r>
          </a:p>
        </p:txBody>
      </p:sp>
      <p:sp>
        <p:nvSpPr>
          <p:cNvPr id="25" name="Oval 24"/>
          <p:cNvSpPr/>
          <p:nvPr/>
        </p:nvSpPr>
        <p:spPr>
          <a:xfrm>
            <a:off x="10442448" y="4992624"/>
            <a:ext cx="1572768" cy="1572768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26496" y="5376672"/>
            <a:ext cx="804672" cy="804672"/>
          </a:xfrm>
          <a:prstGeom prst="ellipse">
            <a:avLst/>
          </a:prstGeom>
          <a:noFill/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我的特长介绍</dc:title>
  <dc:subject/>
  <dc:creator>XXX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